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2D4A22">
              <a:alpha val="0"/>
            </a:srgbClr>
          </a:solidFill>
          <a:ln w="15240">
            <a:solidFill>
              <a:srgbClr val="A4BE7B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2D4A22">
              <a:alpha val="0"/>
            </a:srgbClr>
          </a:solidFill>
          <a:ln w="15240">
            <a:solidFill>
              <a:srgbClr val="A4BE7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2D4A22">
              <a:alpha val="0"/>
            </a:srgbClr>
          </a:solidFill>
          <a:ln w="15240">
            <a:solidFill>
              <a:srgbClr val="A4BE7B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2D4A22">
              <a:alpha val="0"/>
            </a:srgbClr>
          </a:solidFill>
          <a:ln w="15240">
            <a:solidFill>
              <a:srgbClr val="A4BE7B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2D4A22">
              <a:alpha val="0"/>
            </a:srgbClr>
          </a:solidFill>
          <a:ln w="15240">
            <a:solidFill>
              <a:srgbClr val="A4BE7B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-365760"/>
            <a:ext cx="5577840" cy="5577840"/>
          </a:xfrm>
          <a:prstGeom prst="ellipse">
            <a:avLst/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320040"/>
            <a:ext cx="4206240" cy="4206240"/>
          </a:xfrm>
          <a:prstGeom prst="roundRect">
            <a:avLst>
              <a:gd name="adj" fmla="val 3913"/>
            </a:avLst>
          </a:prstGeom>
          <a:solidFill>
            <a:srgbClr val="C1CFA1"/>
          </a:solidFill>
          <a:ln w="12700">
            <a:solidFill>
              <a:srgbClr val="C1CFA1"/>
            </a:solidFill>
            <a:prstDash val="solid"/>
          </a:ln>
        </p:spPr>
      </p:sp>
      <p:pic>
        <p:nvPicPr>
          <p:cNvPr id="9" name="Image 0" descr="/paperclip/workingdirectory/artifacts/sot-2051/assets/community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0040"/>
            <a:ext cx="4206240" cy="4206240"/>
          </a:xfrm>
          <a:prstGeom prst="rect">
            <a:avLst/>
          </a:prstGeom>
        </p:spPr>
      </p:pic>
      <p:pic>
        <p:nvPicPr>
          <p:cNvPr id="10" name="Image 1" descr="/paperclip/workingdirectory/artifacts/sot-2051/assets/logo-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48640"/>
            <a:ext cx="2148840" cy="594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1481328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8096" y="149961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GUIDELINES &amp; OVERVIEW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58368" y="1993392"/>
            <a:ext cx="6126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Garden Montessori Schools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658368" y="3246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Guidelines &amp; Overview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58368" y="397764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warm, nature-led identity for confident children, connected families, and growing communities.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8368" y="6108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  •  August 2026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rooted Houston brand, growing forward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40080" y="2039112"/>
            <a:ext cx="2468880" cy="2029968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26771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868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years nurturing learners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29000" y="2039112"/>
            <a:ext cx="2468880" cy="2029968"/>
          </a:xfrm>
          <a:prstGeom prst="roundRect">
            <a:avLst>
              <a:gd name="adj" fmla="val 7207"/>
            </a:avLst>
          </a:prstGeom>
          <a:solidFill>
            <a:srgbClr val="A4BE7B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226771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65760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 communities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2039112"/>
            <a:ext cx="2468880" cy="2029968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26771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500+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4652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families served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06840" y="2039112"/>
            <a:ext cx="2468880" cy="2029968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8008" y="226771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23544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age programs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4709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active campuses. Spring Valley is the next bloom.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915400" y="4718304"/>
            <a:ext cx="228600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25128" y="4736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WEBSITE RECORD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garden is the model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40080" y="1965960"/>
            <a:ext cx="3447288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194560"/>
            <a:ext cx="1143000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212848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697480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Nurture curiosity, independence, and a lifelong love of learning.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07408" y="1965960"/>
            <a:ext cx="3447288" cy="2057400"/>
          </a:xfrm>
          <a:prstGeom prst="roundRect">
            <a:avLst>
              <a:gd name="adj" fmla="val 7111"/>
            </a:avLst>
          </a:prstGeom>
          <a:solidFill>
            <a:srgbClr val="E1EBE1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6008" y="2194560"/>
            <a:ext cx="1143000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2212848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36008" y="2697480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Children grow into confident, capable people through freedom within a prepared environment.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74736" y="1965960"/>
            <a:ext cx="3447288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03336" y="2194560"/>
            <a:ext cx="1143000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13064" y="2212848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PHILOSOPHY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03336" y="2697480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Respect, freedom, trust, nature, and purposeful work shape the whole child.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0160" y="4617720"/>
            <a:ext cx="9601200" cy="960120"/>
          </a:xfrm>
          <a:prstGeom prst="roundRect">
            <a:avLst>
              <a:gd name="adj" fmla="val 15238"/>
            </a:avLst>
          </a:prstGeom>
          <a:solidFill>
            <a:srgbClr val="2D4A22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481888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“Every child develops at an individual pace. The environment should meet them there.”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Six campuses, one nurturing philosophy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2011680" y="2788920"/>
            <a:ext cx="219456" cy="219456"/>
          </a:xfrm>
          <a:prstGeom prst="ellipse">
            <a:avLst/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0998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2240280"/>
            <a:ext cx="219456" cy="219456"/>
          </a:xfrm>
          <a:prstGeom prst="ellipse">
            <a:avLst/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5511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Oak Forest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3977640"/>
            <a:ext cx="219456" cy="219456"/>
          </a:xfrm>
          <a:prstGeom prst="ellipse">
            <a:avLst/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42885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2468880"/>
            <a:ext cx="219456" cy="219456"/>
          </a:xfrm>
          <a:prstGeom prst="ellipse">
            <a:avLst/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7797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Heights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58200" y="3703320"/>
            <a:ext cx="219456" cy="219456"/>
          </a:xfrm>
          <a:prstGeom prst="ellipse">
            <a:avLst/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40142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46920" y="2084832"/>
            <a:ext cx="292608" cy="292608"/>
          </a:xfrm>
          <a:prstGeom prst="ellipse">
            <a:avLst/>
          </a:prstGeom>
          <a:solidFill>
            <a:srgbClr val="A4BE7B"/>
          </a:solidFill>
          <a:ln w="15240">
            <a:solidFill>
              <a:srgbClr val="2D4A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1572768"/>
            <a:ext cx="1188720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9448" y="159105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42248" y="2450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Spring Valley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417320" y="1783080"/>
            <a:ext cx="8823960" cy="3200400"/>
          </a:xfrm>
          <a:prstGeom prst="arc">
            <a:avLst/>
          </a:prstGeom>
          <a:solidFill>
            <a:srgbClr val="FAF8F5">
              <a:alpha val="0"/>
            </a:srgbClr>
          </a:solidFill>
          <a:ln w="25400">
            <a:solidFill>
              <a:srgbClr val="C1CF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5230368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communities united by one warm, consistent family experience.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continuous journey of growth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1389888" y="1883664"/>
            <a:ext cx="960120" cy="960120"/>
          </a:xfrm>
          <a:prstGeom prst="ellipse">
            <a:avLst/>
          </a:prstGeom>
          <a:solidFill>
            <a:srgbClr val="A4BE7B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64208" y="2084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Infant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51560" y="3538728"/>
            <a:ext cx="1627632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355701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weeks–18 months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40965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&amp; sensory discovery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05456" y="2368296"/>
            <a:ext cx="932688" cy="0"/>
          </a:xfrm>
          <a:prstGeom prst="line">
            <a:avLst/>
          </a:prstGeom>
          <a:noFill/>
          <a:ln w="25400">
            <a:solidFill>
              <a:srgbClr val="C1CFA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97096" y="1883664"/>
            <a:ext cx="960120" cy="960120"/>
          </a:xfrm>
          <a:prstGeom prst="ellipse">
            <a:avLst/>
          </a:prstGeom>
          <a:solidFill>
            <a:srgbClr val="E1EBE1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1416" y="2084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47288" y="30632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Transition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858768" y="3538728"/>
            <a:ext cx="1627632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68496" y="355701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months–3 years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57016" y="40965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&amp; independence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12664" y="2368296"/>
            <a:ext cx="932688" cy="0"/>
          </a:xfrm>
          <a:prstGeom prst="line">
            <a:avLst/>
          </a:prstGeom>
          <a:noFill/>
          <a:ln w="25400">
            <a:solidFill>
              <a:srgbClr val="C1CFA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04304" y="1883664"/>
            <a:ext cx="960120" cy="960120"/>
          </a:xfrm>
          <a:prstGeom prst="ellipse">
            <a:avLst/>
          </a:prstGeom>
          <a:solidFill>
            <a:srgbClr val="A4BE7B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78624" y="2084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54496" y="30632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Primary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665976" y="3538728"/>
            <a:ext cx="1627632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75704" y="355701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3–6 years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4224" y="40965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Purposeful work &amp; community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119872" y="2368296"/>
            <a:ext cx="932688" cy="0"/>
          </a:xfrm>
          <a:prstGeom prst="line">
            <a:avLst/>
          </a:prstGeom>
          <a:noFill/>
          <a:ln w="25400">
            <a:solidFill>
              <a:srgbClr val="C1CFA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811512" y="1883664"/>
            <a:ext cx="960120" cy="960120"/>
          </a:xfrm>
          <a:prstGeom prst="ellipse">
            <a:avLst/>
          </a:prstGeom>
          <a:solidFill>
            <a:srgbClr val="E1EBE1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85832" y="2084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061704" y="30632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Kindergarten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9473184" y="3538728"/>
            <a:ext cx="1627632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82912" y="355701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5–6 years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71432" y="40965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Mastery &amp; leadership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34440" y="534924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Enrichment and summer experiences extend the journey beyond the core classroom.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Families choose with head and heart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1901952"/>
            <a:ext cx="3931920" cy="3474720"/>
          </a:xfrm>
          <a:prstGeom prst="roundRect">
            <a:avLst>
              <a:gd name="adj" fmla="val 4211"/>
            </a:avLst>
          </a:prstGeom>
          <a:solidFill>
            <a:srgbClr val="2D4A22"/>
          </a:solidFill>
          <a:ln w="8890">
            <a:solidFill>
              <a:srgbClr val="D8D9BC"/>
            </a:solidFill>
            <a:prstDash val="solid"/>
          </a:ln>
        </p:spPr>
      </p:sp>
      <p:pic>
        <p:nvPicPr>
          <p:cNvPr id="12" name="Image 0" descr="/paperclip/workingdirectory/artifacts/sot-2051/assets/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40280"/>
            <a:ext cx="658368" cy="6583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87552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4BE7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GMS PARENT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87552" y="3566160"/>
            <a:ext cx="3246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Houston families seeking a trusted first-school experience grounded in warmth, purpose, and respect for each child.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074920" y="1901952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84648" y="192024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23560" y="19019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50608" y="190195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calm, secure environment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74920" y="2606040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84648" y="2624328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23560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150608" y="26060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 Montessori practice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074920" y="3310128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84648" y="332841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623560" y="33101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Belonging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150608" y="33101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Warm teachers and community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074920" y="4014216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84648" y="403250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623560" y="40142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Growth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150608" y="401421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Visible confidence and independence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5074920" y="4718304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84648" y="4736592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623560" y="47183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Practicality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150608" y="471830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Location, hours, and continuity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Accessible-premium Montessori, grounded in nature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1901952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A4BE7B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121408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13969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08176" y="20939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Nature-based learning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08176" y="25054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Gardens and outdoor classrooms make discovery tangible.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81928" y="1901952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121408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13969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31736" y="20939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Authentic foundation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031736" y="25054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Purposeful work, choice, and prepared environments.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3474720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694176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71246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08176" y="36667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attention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08176" y="40782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ratios and individualized guidance.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81928" y="3474720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694176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71246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31736" y="36667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Multi-campus continuity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031736" y="40782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consistent promise across Houston communities.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5358384"/>
            <a:ext cx="9646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 daycare. A thoughtfully prepared Montessori beginning.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brand personality is calm, capable, and alive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1901952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A4BE7B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121408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13969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08176" y="20939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Nurturing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08176" y="25054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families with warmth and genuine care.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81928" y="1901952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121408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13969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31736" y="20939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Curious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031736" y="25054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Celebrate discovery, questions, and purposeful exploration.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3474720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694176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71246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08176" y="36667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Grounded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08176" y="40782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natural forms, honest language, and practical guidance.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81928" y="3474720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694176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71246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31736" y="36667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031736" y="40782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Speak with clarity without sounding rigid or institutional.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5358384"/>
            <a:ext cx="9646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Values in action: respect, independence, belonging, growth, and trust.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voice that feels like a trusted guide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1847088"/>
            <a:ext cx="3383280" cy="3063240"/>
          </a:xfrm>
          <a:prstGeom prst="roundRect">
            <a:avLst>
              <a:gd name="adj" fmla="val 4776"/>
            </a:avLst>
          </a:prstGeom>
          <a:solidFill>
            <a:srgbClr val="E1EBE1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2103120"/>
            <a:ext cx="777240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121408"/>
            <a:ext cx="557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0976" y="2688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Warm and specific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0976" y="31455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Child-centered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" y="36027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Calmly confident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0976" y="40599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Plainspoken and visual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61688" y="1847088"/>
            <a:ext cx="3383280" cy="3063240"/>
          </a:xfrm>
          <a:prstGeom prst="roundRect">
            <a:avLst>
              <a:gd name="adj" fmla="val 4776"/>
            </a:avLst>
          </a:prstGeom>
          <a:solidFill>
            <a:srgbClr val="FFFCF2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0288" y="2103120"/>
            <a:ext cx="777240" cy="347472"/>
          </a:xfrm>
          <a:prstGeom prst="roundRect">
            <a:avLst>
              <a:gd name="adj" fmla="val 47368"/>
            </a:avLst>
          </a:prstGeom>
          <a:solidFill>
            <a:srgbClr val="D8D9BC"/>
          </a:solidFill>
          <a:ln w="12700">
            <a:solidFill>
              <a:srgbClr val="D8D9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2121408"/>
            <a:ext cx="557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54296" y="2688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Corporate jargon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54296" y="31455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Fear-based urgency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54296" y="36027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Overclaiming outcomes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54296" y="40599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Calling Montessori “daycare”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83880" y="1847088"/>
            <a:ext cx="3337560" cy="3063240"/>
          </a:xfrm>
          <a:prstGeom prst="roundRect">
            <a:avLst>
              <a:gd name="adj" fmla="val 4776"/>
            </a:avLst>
          </a:prstGeom>
          <a:solidFill>
            <a:srgbClr val="2D4A22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4BE7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INSTEAD OF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85632" y="2487168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““Best-in-class educational solutions””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85632" y="3319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4BE7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85632" y="3630168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““A prepared place to explore, practice, and grow.””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" y="528523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Sound welcoming and assured. Let real classroom detail carry the proof.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Messaging turns growth into something families can feel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1847088"/>
            <a:ext cx="3383280" cy="3063240"/>
          </a:xfrm>
          <a:prstGeom prst="roundRect">
            <a:avLst>
              <a:gd name="adj" fmla="val 4776"/>
            </a:avLst>
          </a:prstGeom>
          <a:solidFill>
            <a:srgbClr val="E1EBE1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2103120"/>
            <a:ext cx="777240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121408"/>
            <a:ext cx="557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0976" y="2688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Explore at your own pace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0976" y="31455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Grow confidence through practice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" y="36027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Belong to a caring community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0976" y="40599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Discover through purposeful work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61688" y="1847088"/>
            <a:ext cx="3383280" cy="3063240"/>
          </a:xfrm>
          <a:prstGeom prst="roundRect">
            <a:avLst>
              <a:gd name="adj" fmla="val 4776"/>
            </a:avLst>
          </a:prstGeom>
          <a:solidFill>
            <a:srgbClr val="FFFCF2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0288" y="2103120"/>
            <a:ext cx="777240" cy="347472"/>
          </a:xfrm>
          <a:prstGeom prst="roundRect">
            <a:avLst>
              <a:gd name="adj" fmla="val 47368"/>
            </a:avLst>
          </a:prstGeom>
          <a:solidFill>
            <a:srgbClr val="D8D9BC"/>
          </a:solidFill>
          <a:ln w="12700">
            <a:solidFill>
              <a:srgbClr val="D8D9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2121408"/>
            <a:ext cx="557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54296" y="2688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Rush to enroll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54296" y="31455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One-size-fits-all claims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54296" y="36027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Guaranteed outcomes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54296" y="40599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An invented formal tagline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83880" y="1847088"/>
            <a:ext cx="3337560" cy="3063240"/>
          </a:xfrm>
          <a:prstGeom prst="roundRect">
            <a:avLst>
              <a:gd name="adj" fmla="val 4776"/>
            </a:avLst>
          </a:prstGeom>
          <a:solidFill>
            <a:srgbClr val="2D4A22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2176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4BE7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HEADLINE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85632" y="2487168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““A place to explore, practice, and bloom.””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85632" y="33192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4BE7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85632" y="3630168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““Schedule a visit””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" y="528523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Formal tagline: TBD. “Where Bright Futures Begin” and “Where Every Child Blooms” are current website messaging only.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palette borrowed from the garden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1892808"/>
            <a:ext cx="2487168" cy="1234440"/>
          </a:xfrm>
          <a:prstGeom prst="roundRect">
            <a:avLst>
              <a:gd name="adj" fmla="val 11852"/>
            </a:avLst>
          </a:prstGeom>
          <a:solidFill>
            <a:srgbClr val="A4BE7B"/>
          </a:solidFill>
          <a:ln w="12700">
            <a:solidFill>
              <a:srgbClr val="D8D9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963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leaf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#A4BE7B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1892808"/>
            <a:ext cx="2487168" cy="1234440"/>
          </a:xfrm>
          <a:prstGeom prst="roundRect">
            <a:avLst>
              <a:gd name="adj" fmla="val 11852"/>
            </a:avLst>
          </a:prstGeom>
          <a:solidFill>
            <a:srgbClr val="2D4A22"/>
          </a:solidFill>
          <a:ln w="12700">
            <a:solidFill>
              <a:srgbClr val="D8D9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24963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canopy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39312" y="27614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#2D4A22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91072" y="1892808"/>
            <a:ext cx="2487168" cy="1234440"/>
          </a:xfrm>
          <a:prstGeom prst="roundRect">
            <a:avLst>
              <a:gd name="adj" fmla="val 11852"/>
            </a:avLst>
          </a:prstGeom>
          <a:solidFill>
            <a:srgbClr val="384933"/>
          </a:solidFill>
          <a:ln w="12700">
            <a:solidFill>
              <a:srgbClr val="D8D9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24963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Evergreen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5664" y="27614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#384933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7424" y="1892808"/>
            <a:ext cx="2487168" cy="1234440"/>
          </a:xfrm>
          <a:prstGeom prst="roundRect">
            <a:avLst>
              <a:gd name="adj" fmla="val 11852"/>
            </a:avLst>
          </a:prstGeom>
          <a:solidFill>
            <a:srgbClr val="4A5D44"/>
          </a:solidFill>
          <a:ln w="12700">
            <a:solidFill>
              <a:srgbClr val="D8D9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2016" y="24963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72016" y="27614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#4A5D44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" y="3493008"/>
            <a:ext cx="2487168" cy="1234440"/>
          </a:xfrm>
          <a:prstGeom prst="roundRect">
            <a:avLst>
              <a:gd name="adj" fmla="val 11852"/>
            </a:avLst>
          </a:prstGeom>
          <a:solidFill>
            <a:srgbClr val="C1CFA1"/>
          </a:solidFill>
          <a:ln w="12700">
            <a:solidFill>
              <a:srgbClr val="D8D9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965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 sage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43616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#C1CFA1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493008"/>
            <a:ext cx="2487168" cy="1234440"/>
          </a:xfrm>
          <a:prstGeom prst="roundRect">
            <a:avLst>
              <a:gd name="adj" fmla="val 11852"/>
            </a:avLst>
          </a:prstGeom>
          <a:solidFill>
            <a:srgbClr val="E1EBE1"/>
          </a:solidFill>
          <a:ln w="12700">
            <a:solidFill>
              <a:srgbClr val="D8D9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40965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39312" y="43616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#E1EBE1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91072" y="3493008"/>
            <a:ext cx="2487168" cy="1234440"/>
          </a:xfrm>
          <a:prstGeom prst="roundRect">
            <a:avLst>
              <a:gd name="adj" fmla="val 11852"/>
            </a:avLst>
          </a:prstGeom>
          <a:solidFill>
            <a:srgbClr val="FAF8F5"/>
          </a:solidFill>
          <a:ln w="12700">
            <a:solidFill>
              <a:srgbClr val="D8D9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40965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Warm paper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55664" y="43616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#FAF8F5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07424" y="3493008"/>
            <a:ext cx="2487168" cy="1234440"/>
          </a:xfrm>
          <a:prstGeom prst="roundRect">
            <a:avLst>
              <a:gd name="adj" fmla="val 11852"/>
            </a:avLst>
          </a:prstGeom>
          <a:solidFill>
            <a:srgbClr val="F2EFEB"/>
          </a:solidFill>
          <a:ln w="12700">
            <a:solidFill>
              <a:srgbClr val="D8D9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72016" y="40965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Outer stone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72016" y="43616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#F2EFEB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22192" y="5376672"/>
            <a:ext cx="4553712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5394960"/>
            <a:ext cx="4334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DEPRECATED #74C222 — DO NOT USE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Typography creates warmth, clarity, and rhythm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1856232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87452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18562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Libre Baskerville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185623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Titles, section openers, and short editorial statements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2551176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56946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BODY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2768" y="2551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86200" y="255117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Paragraphs, labels, navigation, and practical information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246120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26440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HIERARCHY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72768" y="3246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contrast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86200" y="32461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 headings visibly larger and body copy comfortably readable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3941064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95935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72768" y="39410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Natural sentence case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86200" y="394106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Reserve all caps for short labels and eyebrows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8368" y="4636008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465429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RHYTHM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72768" y="4636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Generous spacing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86200" y="46360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type breathe; avoid crowded lines and dense blocks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961120" y="1847088"/>
            <a:ext cx="2331720" cy="3456432"/>
          </a:xfrm>
          <a:prstGeom prst="roundRect">
            <a:avLst>
              <a:gd name="adj" fmla="val 7059"/>
            </a:avLst>
          </a:prstGeom>
          <a:solidFill>
            <a:srgbClr val="C1CFA1"/>
          </a:solidFill>
          <a:ln w="12700">
            <a:solidFill>
              <a:srgbClr val="C1CFA1"/>
            </a:solidFill>
            <a:prstDash val="solid"/>
          </a:ln>
        </p:spPr>
      </p:sp>
      <p:pic>
        <p:nvPicPr>
          <p:cNvPr id="32" name="Image 0" descr="/paperclip/workingdirectory/artifacts/sot-2051/assets/classroom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1847088"/>
            <a:ext cx="2331720" cy="345643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13232" y="55046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no more than these two type families. Keep line lengths concise and hierarchy unmistakable.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logo system stays clear, calm, and recognizable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1856232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87452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18562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logo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185623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Preferred for covers, headers, signage, and first impressions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2551176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56946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2768" y="2551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mark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86200" y="255117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only when the full mark cannot remain comfortably legible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246120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26440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72768" y="3246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icon width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86200" y="32461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a clear field around every side of the mark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3941064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95935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SIZE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72768" y="39410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Legibility first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86200" y="394106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not reduce the full logo below 1.5 inches in presentations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8368" y="4636008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465429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72768" y="4636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 the form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86200" y="46360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stretch, recolor, rotate, crop, outline, or add effects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961120" y="1847088"/>
            <a:ext cx="2331720" cy="3456432"/>
          </a:xfrm>
          <a:prstGeom prst="roundRect">
            <a:avLst>
              <a:gd name="adj" fmla="val 7059"/>
            </a:avLst>
          </a:prstGeom>
          <a:solidFill>
            <a:srgbClr val="C1CFA1"/>
          </a:solidFill>
          <a:ln w="12700">
            <a:solidFill>
              <a:srgbClr val="C1CFA1"/>
            </a:solidFill>
            <a:prstDash val="solid"/>
          </a:ln>
        </p:spPr>
      </p:sp>
      <p:pic>
        <p:nvPicPr>
          <p:cNvPr id="32" name="Image 0" descr="/paperclip/workingdirectory/artifacts/sot-2051/assets/classroom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1847088"/>
            <a:ext cx="2331720" cy="345643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13232" y="55046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on white, warm ivory, or deep forest with enough contrast. Never place over busy photography.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Photography should feel observed, not staged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1856232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87452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18562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Bright and natural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185623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Favor soft daylight, balanced warmth, and true-to-life color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2551176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56946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2768" y="2551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Purposeful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86200" y="255117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real materials, hands at work, gardens, and classroom discovery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246120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26440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72768" y="3246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Child-height view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86200" y="32461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intimacy with candid, close, respectful perspectives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3941064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959352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72768" y="39410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approved imagery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86200" y="394106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official, consented photographs and avoid sensitive details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8368" y="4636008"/>
            <a:ext cx="713232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465429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72768" y="4636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Botanical accents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86200" y="46360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 imagery with organic crops, seed forms, and subtle natural texture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961120" y="1847088"/>
            <a:ext cx="2331720" cy="3456432"/>
          </a:xfrm>
          <a:prstGeom prst="roundRect">
            <a:avLst>
              <a:gd name="adj" fmla="val 7059"/>
            </a:avLst>
          </a:prstGeom>
          <a:solidFill>
            <a:srgbClr val="C1CFA1"/>
          </a:solidFill>
          <a:ln w="12700">
            <a:solidFill>
              <a:srgbClr val="C1CFA1"/>
            </a:solidFill>
            <a:prstDash val="solid"/>
          </a:ln>
        </p:spPr>
      </p:sp>
      <p:pic>
        <p:nvPicPr>
          <p:cNvPr id="32" name="Image 0" descr="/paperclip/workingdirectory/artifacts/sot-2051/assets/classroom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1847088"/>
            <a:ext cx="2331720" cy="345643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13232" y="55046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5D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Photography is evidence of the learning environment, not decorative filler.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19456"/>
            <a:ext cx="11676888" cy="6419088"/>
          </a:xfrm>
          <a:prstGeom prst="roundRect">
            <a:avLst>
              <a:gd name="adj" fmla="val 1709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FAF8F5">
              <a:alpha val="0"/>
            </a:srgbClr>
          </a:solidFill>
          <a:ln w="15240">
            <a:solidFill>
              <a:srgbClr val="C1CFA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30352"/>
            <a:ext cx="2331720" cy="347472"/>
          </a:xfrm>
          <a:prstGeom prst="roundRect">
            <a:avLst>
              <a:gd name="adj" fmla="val 47368"/>
            </a:avLst>
          </a:prstGeom>
          <a:solidFill>
            <a:srgbClr val="E1EBE1"/>
          </a:solidFill>
          <a:ln w="12700">
            <a:solidFill>
              <a:srgbClr val="E1E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 •  BRAND GUIDELINES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0332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Bring the garden system into every application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658368" y="1901952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A4BE7B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121408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13969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08176" y="20939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08176" y="25054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 corners, thin sage borders, and content-led height.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81928" y="1901952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121408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139696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31736" y="20939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Buttons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031736" y="25054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Pill shapes with direct, welcoming action language.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3474720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694176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71246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08176" y="36667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Layouts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08176" y="40782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Editorial asymmetry balanced by generous breathing room.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81928" y="3474720"/>
            <a:ext cx="5257800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8890">
            <a:solidFill>
              <a:srgbClr val="D8D9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694176"/>
            <a:ext cx="384048" cy="347472"/>
          </a:xfrm>
          <a:prstGeom prst="roundRect">
            <a:avLst>
              <a:gd name="adj" fmla="val 47368"/>
            </a:avLst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712464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31736" y="366674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Surfaces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031736" y="40782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49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Warm ivory and paper tones, with forest text for contrast.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5358384"/>
            <a:ext cx="9646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4A2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a small set of organic shapes so every touchpoint feels related.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0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4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784080" y="-320040"/>
            <a:ext cx="2103120" cy="2103120"/>
          </a:xfrm>
          <a:prstGeom prst="arc">
            <a:avLst/>
          </a:prstGeom>
          <a:solidFill>
            <a:srgbClr val="2D4A22">
              <a:alpha val="0"/>
            </a:srgbClr>
          </a:solidFill>
          <a:ln w="15240">
            <a:solidFill>
              <a:srgbClr val="A4BE7B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620000">
            <a:off x="9985248" y="-182880"/>
            <a:ext cx="2103120" cy="2103120"/>
          </a:xfrm>
          <a:prstGeom prst="arc">
            <a:avLst/>
          </a:prstGeom>
          <a:solidFill>
            <a:srgbClr val="2D4A22">
              <a:alpha val="0"/>
            </a:srgbClr>
          </a:solidFill>
          <a:ln w="15240">
            <a:solidFill>
              <a:srgbClr val="A4BE7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60000">
            <a:off x="10186416" y="-45720"/>
            <a:ext cx="2103120" cy="2103120"/>
          </a:xfrm>
          <a:prstGeom prst="arc">
            <a:avLst/>
          </a:prstGeom>
          <a:solidFill>
            <a:srgbClr val="2D4A22">
              <a:alpha val="0"/>
            </a:srgbClr>
          </a:solidFill>
          <a:ln w="15240">
            <a:solidFill>
              <a:srgbClr val="A4BE7B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87584" y="91440"/>
            <a:ext cx="2103120" cy="2103120"/>
          </a:xfrm>
          <a:prstGeom prst="arc">
            <a:avLst/>
          </a:prstGeom>
          <a:solidFill>
            <a:srgbClr val="2D4A22">
              <a:alpha val="0"/>
            </a:srgbClr>
          </a:solidFill>
          <a:ln w="15240">
            <a:solidFill>
              <a:srgbClr val="A4BE7B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3240000">
            <a:off x="10588752" y="228600"/>
            <a:ext cx="2103120" cy="2103120"/>
          </a:xfrm>
          <a:prstGeom prst="arc">
            <a:avLst/>
          </a:prstGeom>
          <a:solidFill>
            <a:srgbClr val="2D4A22">
              <a:alpha val="0"/>
            </a:srgbClr>
          </a:solidFill>
          <a:ln w="15240">
            <a:solidFill>
              <a:srgbClr val="A4BE7B">
                <a:alpha val="55000"/>
              </a:srgbClr>
            </a:solidFill>
            <a:prstDash val="solid"/>
          </a:ln>
        </p:spPr>
      </p:sp>
      <p:pic>
        <p:nvPicPr>
          <p:cNvPr id="7" name="Image 0" descr="/paperclip/workingdirectory/artifacts/sot-2051/assets/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48640"/>
            <a:ext cx="56692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44752" y="640080"/>
            <a:ext cx="1737360" cy="347472"/>
          </a:xfrm>
          <a:prstGeom prst="roundRect">
            <a:avLst>
              <a:gd name="adj" fmla="val 47368"/>
            </a:avLst>
          </a:prstGeom>
          <a:solidFill>
            <a:srgbClr val="A4BE7B"/>
          </a:solidFill>
          <a:ln w="12700">
            <a:solidFill>
              <a:srgbClr val="A4BE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54480" y="65836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BRAND ESSENCE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3232" y="1508760"/>
            <a:ext cx="7772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One brand, ready to grow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731520" y="2999232"/>
            <a:ext cx="6172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Warm. Child-centered. Nature-led. Calmly confident. Every touchpoint should feel like a prepared environment for families.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589520" y="1353312"/>
            <a:ext cx="3794760" cy="2926080"/>
          </a:xfrm>
          <a:prstGeom prst="roundRect">
            <a:avLst>
              <a:gd name="adj" fmla="val 5625"/>
            </a:avLst>
          </a:prstGeom>
          <a:solidFill>
            <a:srgbClr val="C1CFA1"/>
          </a:solidFill>
          <a:ln w="12700">
            <a:solidFill>
              <a:srgbClr val="C1CFA1"/>
            </a:solidFill>
            <a:prstDash val="solid"/>
          </a:ln>
        </p:spPr>
      </p:sp>
      <p:pic>
        <p:nvPicPr>
          <p:cNvPr id="13" name="Image 1" descr="/paperclip/workingdirectory/artifacts/sot-2051/assets/teache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53312"/>
            <a:ext cx="3794760" cy="2926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4434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4BE7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PRIORITIES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49808" y="4873752"/>
            <a:ext cx="3127248" cy="347472"/>
          </a:xfrm>
          <a:prstGeom prst="roundRect">
            <a:avLst>
              <a:gd name="adj" fmla="val 47368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59536" y="48920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 Libre Baskerville + DM Sans only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114800" y="4873752"/>
            <a:ext cx="3127248" cy="347472"/>
          </a:xfrm>
          <a:prstGeom prst="roundRect">
            <a:avLst>
              <a:gd name="adj" fmla="val 47368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24528" y="48920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 Primary leaf #A4BE7B; never #74C222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49808" y="5404104"/>
            <a:ext cx="3127248" cy="347472"/>
          </a:xfrm>
          <a:prstGeom prst="roundRect">
            <a:avLst>
              <a:gd name="adj" fmla="val 47368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9536" y="542239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 Full logo first; icon only when constrained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114800" y="5404104"/>
            <a:ext cx="3127248" cy="347472"/>
          </a:xfrm>
          <a:prstGeom prst="roundRect">
            <a:avLst>
              <a:gd name="adj" fmla="val 47368"/>
            </a:avLst>
          </a:prstGeom>
          <a:solidFill>
            <a:srgbClr val="FAF8F5"/>
          </a:solidFill>
          <a:ln w="12700">
            <a:solidFill>
              <a:srgbClr val="FAF8F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224528" y="542239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4A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 Real, approved imagery with natural light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49808" y="6236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 · Brand Guidelines &amp; Overview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21792" y="6419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GARDEN MONTESSORI SCHOOLS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1CFA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re Baskervil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Garden Montessori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Garden Montessori Schools: Brand Guidelines &amp; Overview</dc:title>
  <dc:subject>Garden Montessori Schools Brand Guidelines &amp; Overview</dc:subject>
  <dc:creator>Garden Montessori Schools</dc:creator>
  <cp:lastModifiedBy>Garden Montessori Schools</cp:lastModifiedBy>
  <cp:revision>1</cp:revision>
  <dcterms:created xsi:type="dcterms:W3CDTF">2026-08-13T01:01:42Z</dcterms:created>
  <dcterms:modified xsi:type="dcterms:W3CDTF">2026-08-13T01:01:42Z</dcterms:modified>
</cp:coreProperties>
</file>