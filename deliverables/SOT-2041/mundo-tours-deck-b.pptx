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The first objective is repeatable bookings at acceptable contribution-margin CAC — not clicks or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The report proposes Italy–Switzerland, Paris–Disney, Central Europe, Northern Italy, Spain, Balkans, and selective secondary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Fixed departures may later support deposits online. Customized/private trips remain quote-led.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One primary variable per test; evaluate qualified leads, deposits, and margin — not click-through rate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Account-level verification of analytics, consent, WhatsApp attribution, and CRM integrations remains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supplied Deck B research. Public URL not included in source export.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5303520" cy="5303520"/>
          </a:xfrm>
          <a:prstGeom prst="ellipse">
            <a:avLst/>
          </a:prstGeom>
          <a:solidFill>
            <a:srgbClr val="A45FE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-548640"/>
            <a:ext cx="4572000" cy="4572000"/>
          </a:xfrm>
          <a:prstGeom prst="ellipse">
            <a:avLst/>
          </a:prstGeom>
          <a:solidFill>
            <a:srgbClr val="9999FF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85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RESEARCH REPORT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8686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Mundo Tours North American Acquisition and Booking Engine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9808" y="3703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Evidence-led market entry, channel architecture, and decision gates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SoTech • Internal strategy material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DIAGNOSIS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depth is not yet a distribution advantage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999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U.S. sales system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Mundo’s Middle Eastern operating capability into a tightly instrumented Houston product-sales system. Do not begin with a full catalog, national media, or real-time booking.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4315968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4143A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metro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2072" y="4315968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4143A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Europe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10912" y="4315968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4143A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validation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objective is repeatable bookings at acceptable contribution-margin CAC — not clicks or leads.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THE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evidence, inference, and hypothesis distinct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observed in Mundo, competitor, regulator, or authoritative industry sources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53128" y="201168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27448" y="3063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conclusion drawn from multiple verified facts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0456" y="201168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TO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94776" y="3063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plausible recommendation requiring Mundo’s economic and booking data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 STRATEGY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Expand by economics, not simultaneity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metro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 English/Arabic acquisition and concentrated partnerships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11296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75888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DFW + Texas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5888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one-state operating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64224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28816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U.S. metros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Detroit, NJ/NY, Chicago — validate independently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87968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17152" y="1993392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81744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381744" y="27889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then Mexico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81744" y="36576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after regulatory and capability gates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TEST CASE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defensible test market — not an arbitrary choice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U.S. Arabic speakers in Texas, cited by the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145+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Languages spoken in Houston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764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12.4M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IAH international passengers in 2025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62288" y="1938528"/>
            <a:ext cx="250545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240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2026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cited nonstop Houston–Rome 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" y="437083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 and multicultural reach make Houston manageable for learning. They do not establish permanent market leadership.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CUSTOMER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Solve complexity for family and group decision-makers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i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“Arabic/English Houston families and multigenerational groups who value privacy, family pacing, and one accountable planner.”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85800" y="3337560"/>
            <a:ext cx="34015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4023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referrals, community networks, WhatsApp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53128" y="3337560"/>
            <a:ext cx="34015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4296" y="4023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Reviews, itinerary detail, bilingual support, transparent terms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0456" y="3337560"/>
            <a:ext cx="34015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21624" y="40233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not self-book or choose a larger operator?”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HERO-OFFER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 every offer before it reaches paid traffic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evidence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328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intent visible?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5696" y="1938528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reliability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25328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dates and components hold?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938528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profit dollars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25328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there room for CAC?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328416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93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9227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Mundo?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25696" y="3328416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3493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strength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08576" y="39227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page prove value?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3024" y="3328416"/>
            <a:ext cx="34015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34930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simplicity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75904" y="39227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team quote reliably?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516636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proposes Italy–Switzerland, Paris–Disney, Central Europe, Northern Italy, Spain, Balkans, and selective secondary tests.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 both crowded positions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05840" y="3794760"/>
            <a:ext cx="9966960" cy="0"/>
          </a:xfrm>
          <a:prstGeom prst="line">
            <a:avLst/>
          </a:prstGeom>
          <a:noFill/>
          <a:ln w="25400">
            <a:solidFill>
              <a:srgbClr val="D9D7E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" y="3246120"/>
            <a:ext cx="566928" cy="566928"/>
          </a:xfrm>
          <a:prstGeom prst="ellipse">
            <a:avLst/>
          </a:prstGeom>
          <a:solidFill>
            <a:srgbClr val="B3B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Muslim agency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Familiarity • Often Hajj / Umrah centered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3246120"/>
            <a:ext cx="566928" cy="566928"/>
          </a:xfrm>
          <a:prstGeom prst="ellipse">
            <a:avLst/>
          </a:prstGeom>
          <a:solidFill>
            <a:srgbClr val="B3B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tour operator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visibility • Strong booking infrastructure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246120"/>
            <a:ext cx="566928" cy="566928"/>
          </a:xfrm>
          <a:prstGeom prst="ellipse">
            <a:avLst/>
          </a:prstGeom>
          <a:solidFill>
            <a:srgbClr val="B3B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DIY marketplace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• Customer coordinates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3246120"/>
            <a:ext cx="566928" cy="566928"/>
          </a:xfrm>
          <a:prstGeom prst="ellipse">
            <a:avLst/>
          </a:prstGeom>
          <a:solidFill>
            <a:srgbClr val="A45F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Mundo opportunity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flexibility • Europe + private-driver depth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around end-to-end family coordination, cultural familiarity, and human support — not breadth or an unprovable price claim.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READINESS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live site proves inventory, not U.S. conversion readiness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5285232" cy="3611880"/>
          </a:xfrm>
          <a:prstGeom prst="roundRect">
            <a:avLst>
              <a:gd name="adj" fmla="val 3038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128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strengths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25296" y="274320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and varied tour inventory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25296" y="329184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itinerary capability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50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25296" y="38404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Saudi/Omani licenses and branches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98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25296" y="43891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 private-driver and guide categories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285232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2128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/ unverified gaps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9672" y="2852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30568" y="274320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and SAR orientation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30568" y="329184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indexed U.S.-specific buying experience found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9672" y="3950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0568" y="38404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missing prices / product inconsistencies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4498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30568" y="43891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entity, English staging, analytics, CRM unverified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ENGINE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the assisted sale before automating checkout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1927860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× market × message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331720"/>
            <a:ext cx="1927860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Promise, proof, terms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2331720"/>
            <a:ext cx="1927860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Dates, party, budget, needs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331720"/>
            <a:ext cx="1927860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Qualify and shape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2331720"/>
            <a:ext cx="1927860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Supplier-confirmed quote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+ validity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38360" y="2331720"/>
            <a:ext cx="1927860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2952" y="2679192"/>
            <a:ext cx="1562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516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Disclosed terms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departures may later support deposits online. Customized/private trips remain quote-led.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paid media to learn, not to hide funnel defects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57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High-intent offer and departure queries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49240" y="2103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negatives and call / form attribution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127248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64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3310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+ first-party + travel relevance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3310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English/Arabic creative; do not infer ethnicity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334256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/ partnerships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45171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SEO + community + referrals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45171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Proof, co-marketing, review capture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× LANDING PAGE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 one audience problem to one offer proof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39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Europe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2039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overload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39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driver + paced itinerary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2039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request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715768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80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Multigenerational group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880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accountable planner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2880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557016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21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Honeymoon / VIP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721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+ personalization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721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Concierge-level itinerary detail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3721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request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398264"/>
            <a:ext cx="108356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62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departure intent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4562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 we start?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562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relevance + air clarity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4562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shortlist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TESTING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decisions — not decoration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0391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9842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coordination vs. private-driver flexibility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56232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20391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19842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Destination-led vs. problem-led hero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16352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992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9443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qualification vs. staged detail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816352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9992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29443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Traveler story vs. operating credentials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776472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9593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9044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a tailored quote vs. plan with an advisor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776472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593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39044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Land-from framing vs. consultation-first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0749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primary variable per test; evaluate qualified leads, deposits, and margin — not click-through rate alone.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+ CRM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 acquisition to economics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/ source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UTM + campaign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61903" y="2331720"/>
            <a:ext cx="1678577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6495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44783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+ market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29446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4038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12326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+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96989" y="2331720"/>
            <a:ext cx="1678577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1581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79869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margin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4531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9123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7411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signal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32074" y="2331720"/>
            <a:ext cx="1678577" cy="2011680"/>
          </a:xfrm>
          <a:prstGeom prst="chevron">
            <a:avLst/>
          </a:prstGeom>
          <a:solidFill>
            <a:srgbClr val="B3B3FF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6666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complete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14954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margin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99617" y="2331720"/>
            <a:ext cx="1678577" cy="2011680"/>
          </a:xfrm>
          <a:prstGeom prst="chevron">
            <a:avLst/>
          </a:prstGeom>
          <a:solidFill>
            <a:srgbClr val="14143A"/>
          </a:solidFill>
          <a:ln w="25400">
            <a:solidFill>
              <a:srgbClr val="F4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4209" y="2679192"/>
            <a:ext cx="131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82497" y="324612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Compounding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Account-level verification of analytics, consent, WhatsApp attribution, and CRM integrations remains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cheap lead can still be an expensive customer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0835640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75688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Contribution-margin CAC is the governing acquisition metric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/ qualified lead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quality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readiness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 conversion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strength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profit / booking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782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room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416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+ change cost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782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Fulfillment leakage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4416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Payback + referral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4782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value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DECISION PLAN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phase ends with a gate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01568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5256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+ terms • offers • CRM • landing pages • sales owner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53128" y="1965960"/>
            <a:ext cx="3401568" cy="3154680"/>
          </a:xfrm>
          <a:prstGeom prst="roundRect">
            <a:avLst>
              <a:gd name="adj" fmla="val 3478"/>
            </a:avLst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2584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+ referrals • response SLA • quote quality • first deposits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0456" y="1965960"/>
            <a:ext cx="3401568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39912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39912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 margin • supplier reliability • cohort quality • expand / revise / stop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45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RISKS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scale around unknowns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CE6577"/>
          </a:solidFill>
          <a:ln w="12700">
            <a:solidFill>
              <a:srgbClr val="CE65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8562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 margin by offer and channel is unknown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CE6577"/>
          </a:solidFill>
          <a:ln w="12700">
            <a:solidFill>
              <a:srgbClr val="CE65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70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5877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entity, merchant, insurance, and state obligations unverified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CE6577"/>
          </a:solidFill>
          <a:ln w="12700">
            <a:solidFill>
              <a:srgbClr val="CE65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31927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confirmation and refund / change operations may leak margin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E2A84A"/>
          </a:solidFill>
          <a:ln w="12700">
            <a:solidFill>
              <a:srgbClr val="E2A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33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40507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local advantage may be weaker than assumed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1005840" cy="457200"/>
          </a:xfrm>
          <a:prstGeom prst="roundRect">
            <a:avLst>
              <a:gd name="adj" fmla="val 24000"/>
            </a:avLst>
          </a:prstGeom>
          <a:solidFill>
            <a:srgbClr val="E2A84A"/>
          </a:solidFill>
          <a:ln w="12700">
            <a:solidFill>
              <a:srgbClr val="E2A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64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78231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figures and English staging / analytics readiness remain limited or unverified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SOTECH  /  MUNDO TOURS  / 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556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3B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Instrument the path from promise to margin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9999FF"/>
          </a:solidFill>
          <a:ln w="12700">
            <a:solidFill>
              <a:srgbClr val="999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30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2121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travel, handled end to 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3128" y="1965960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130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50408" y="2121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Houston validation boundary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0456" y="1965960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2130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17736" y="2121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Europe-led hero offers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264408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FUNNEL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34198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→ advisor → confirmed deposit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53128" y="3264408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3429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50408" y="34198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+ attribution + sales ownership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0456" y="3264408"/>
            <a:ext cx="3401568" cy="987552"/>
          </a:xfrm>
          <a:prstGeom prst="roundRect">
            <a:avLst>
              <a:gd name="adj" fmla="val 11111"/>
            </a:avLst>
          </a:prstGeom>
          <a:solidFill>
            <a:srgbClr val="14143A"/>
          </a:solidFill>
          <a:ln w="12700">
            <a:solidFill>
              <a:srgbClr val="A45F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34290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17736" y="34198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Scale, revise, or stop on evidence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07492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99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research supports a focused test. It does not support a simultaneous North American launch.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Mundo Tours North American Acquisition and Booking Engine: Deep Research Report</dc:title>
  <dc:subject>Mundo Tours B strategy</dc:subject>
  <dc:creator>SoTech</dc:creator>
  <cp:lastModifiedBy>SoTech</cp:lastModifiedBy>
  <cp:revision>1</cp:revision>
  <dcterms:created xsi:type="dcterms:W3CDTF">2026-08-11T07:07:05Z</dcterms:created>
  <dcterms:modified xsi:type="dcterms:W3CDTF">2026-08-11T07:07:05Z</dcterms:modified>
</cp:coreProperties>
</file>