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Houston is a beachhead hypothesis, not a claim that it is the largest MENA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Target five to eight offers. International air usually remains separate until ticketing and change operations are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Real-time checkout is premature while dates, hotels, private drivers, and supplier-dependent components remain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Fast response and disciplined pipeline ownership matter more than a call center at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Compliance observations are strategic research,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A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FF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5303520" cy="5303520"/>
          </a:xfrm>
          <a:prstGeom prst="ellipse">
            <a:avLst/>
          </a:prstGeom>
          <a:solidFill>
            <a:srgbClr val="A45FE6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-548640"/>
            <a:ext cx="4572000" cy="4572000"/>
          </a:xfrm>
          <a:prstGeom prst="ellipse">
            <a:avLst/>
          </a:prstGeom>
          <a:solidFill>
            <a:srgbClr val="9999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85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AMERICAN GROWTH STRATEGY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8686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Mundo Tours: North American Customer-Acquisition and Booking Engine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9808" y="3703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U.S. beachhead, assisted-sale journey, and 90-day proof plan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074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SoTech • Internal strategy material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FF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RECOMMENDATION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 one operating model before widening geography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999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Houston first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 localized U.S. acquisition system for a narrow audience and five to eight hero offers. Validate acquisition cost, margin, supplier reliability, and sales conversion before expanding.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4315968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4143A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379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United States first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2072" y="4315968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4143A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4379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Assisted sale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10912" y="4315968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4143A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4379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5–8 hero offers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is a beachhead hypothesis, not a claim that it is the largest MENA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SEQUENCE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Treat North America as a sequence of experiments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93392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/ U.S.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one acquisition, sales, and fulfillment playbook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11296" y="1993392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75888" y="27889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DFW + selected metros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75888" y="36576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only after economics and service reliability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64224" y="1993392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28816" y="27889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/ GTA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36576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regulatory and transaction model first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87968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217152" y="1993392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81744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381744" y="27889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Mexico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81744" y="36576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Defer until Spanish, MXN, and compliance capabilities exist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U.S. FIRST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supports a test — not a guarantee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2505456" cy="1874520"/>
          </a:xfrm>
          <a:prstGeom prst="roundRect">
            <a:avLst>
              <a:gd name="adj" fmla="val 5854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107.7M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outbound travelers in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1938528"/>
            <a:ext cx="250545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240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53.8M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Overseas travelers in 2024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7648" y="1938528"/>
            <a:ext cx="250545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Texas overseas travelers in the cited survey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62288" y="1938528"/>
            <a:ext cx="250545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240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 days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0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overseas planning horizon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" y="437083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is large enough to justify a disciplined test. These figures do not prove demand for Mundo specifically.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BUSINESS DIAGNOSIS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product substance; weak North American readiness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5285232" cy="3611880"/>
          </a:xfrm>
          <a:prstGeom prst="roundRect">
            <a:avLst>
              <a:gd name="adj" fmla="val 3038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128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 to carry forward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25296" y="274320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itineraries and inclusions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25296" y="329184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Private-driver and guided Europe capability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50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25296" y="384048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Eastern license and branch proof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98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25296" y="43891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 customer-service capability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5285232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2128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Gaps to resolve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9672" y="2852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30568" y="274320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Arabic-first, SAR-denominated experience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30568" y="329184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verified U.S. entity, office, phone, or merchant setup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9672" y="3950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0568" y="384048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inquiry-to-booking journey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4498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30568" y="43891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data-quality defects and attribution gaps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CUSTOMER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 with the problem Mundo is equipped to solve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i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“Houston-area Arabic-speaking or bilingual MENA families and multigenerational households planning complex Europe trips.”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85800" y="3337560"/>
            <a:ext cx="34015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" y="4023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planning complexity without losing flexibility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53128" y="3337560"/>
            <a:ext cx="34015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4296" y="4023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drivers, family pacing, and Arabic/English human support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0456" y="3337560"/>
            <a:ext cx="34015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21624" y="4023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terms, itinerary specificity, and accountable sales ownership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PORTFOLIO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Choose, package, and prove — do not migrate the catalog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Italy–Switzerland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328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journey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5696" y="1938528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Switzerland–Paris–Disney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8576" y="25328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Family-focused route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938528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Europe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25328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highlights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328416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93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Northern Italy + Switzerland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39227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or self-drive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25696" y="3328416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3493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08576" y="39227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Madrid–Barcelona private journey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3024" y="3328416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3493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Balkans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75904" y="39227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Differentiated family route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516636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five to eight offers. International air usually remains separate until ticketing and change operations are proven.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POSITION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Compete on coordination, not catalog scale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05840" y="3794760"/>
            <a:ext cx="9966960" cy="0"/>
          </a:xfrm>
          <a:prstGeom prst="line">
            <a:avLst/>
          </a:prstGeom>
          <a:noFill/>
          <a:ln w="25400">
            <a:solidFill>
              <a:srgbClr val="D9D7E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" y="3246120"/>
            <a:ext cx="566928" cy="566928"/>
          </a:xfrm>
          <a:prstGeom prst="ellipse">
            <a:avLst/>
          </a:prstGeom>
          <a:solidFill>
            <a:srgbClr val="B3B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DIY / OTAs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support • High flexibility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3246120"/>
            <a:ext cx="566928" cy="566928"/>
          </a:xfrm>
          <a:prstGeom prst="ellipse">
            <a:avLst/>
          </a:prstGeom>
          <a:solidFill>
            <a:srgbClr val="B3B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tour operators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scale • Low customization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246120"/>
            <a:ext cx="566928" cy="566928"/>
          </a:xfrm>
          <a:prstGeom prst="ellipse">
            <a:avLst/>
          </a:prstGeom>
          <a:solidFill>
            <a:srgbClr val="B3B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community agencies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familiarity • Often religious-travel 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3246120"/>
            <a:ext cx="566928" cy="566928"/>
          </a:xfrm>
          <a:prstGeom prst="ellipse">
            <a:avLst/>
          </a:prstGeom>
          <a:solidFill>
            <a:srgbClr val="A45F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Mundo opportunity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support • Flexible family Europe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defensible promise is one accountable team coordinating a complex family journey — not “best prices.”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Assisted sale first; transactional booking later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1927860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Package-specific intent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2331720"/>
            <a:ext cx="1927860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request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trip inputs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2331720"/>
            <a:ext cx="1927860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qualification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331720"/>
            <a:ext cx="1927860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Itinerary + quote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Written, supplier-aware offer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2331720"/>
            <a:ext cx="1927860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disclosed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38360" y="2331720"/>
            <a:ext cx="1927860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29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 through review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checkout is premature while dates, hotels, private drivers, and supplier-dependent components remain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90 DAYS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first-party learning before scale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579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High-intent Google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49240" y="2103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and referral partnerships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0" y="2103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Existing-customer referrals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127248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64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3310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SEO landing pages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3310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Retargeting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331012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attribution and fast response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334256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Postpone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45171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cold social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45171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Nationwide expansion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451713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and real-time booking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SEARCH ENGINE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Organize intent around customer decisions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5166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57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0391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Europe tour • Arabic guide • family itinerary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166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057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20391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 tours from Houston • private trips from Houston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319272"/>
            <a:ext cx="5166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02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4838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booking works • cancellation • insurance • visas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319272"/>
            <a:ext cx="5166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502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34838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Italy–Switzerland • Paris–Disney • Central Europe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landing pages come first. Informational volume comes after conversion and economics are understood.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+ AUTOMATION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every handoff measurable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1678577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captured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Source, offer, dates, party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61903" y="2331720"/>
            <a:ext cx="1678577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6495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44783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expectations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29446" y="2331720"/>
            <a:ext cx="1678577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4038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12326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Fit, budget, timing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96989" y="2331720"/>
            <a:ext cx="1678577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1581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79869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itinerary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64531" y="2331720"/>
            <a:ext cx="1678577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9123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 pending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7411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+ expiry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32074" y="2331720"/>
            <a:ext cx="1678577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6666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Won / lost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14954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+ reason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99617" y="2331720"/>
            <a:ext cx="1678577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4209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Post-trip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82497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referral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response and disciplined pipeline ownership matter more than a call center at launch.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+ COMPLIANCE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Resolve operating gates before paid acquisition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01952"/>
            <a:ext cx="5166360" cy="1097280"/>
          </a:xfrm>
          <a:prstGeom prst="roundRect">
            <a:avLst>
              <a:gd name="adj" fmla="val 10000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+ PAYMENTS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205740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U.S. legal entity, banking, merchant, and tax setup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01952"/>
            <a:ext cx="5166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+ DISCLOSURES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Cancellation, supplier confirmation, privacy, consent, insurance, visa responsibility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319272"/>
            <a:ext cx="5166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4838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LICENSING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34747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 confirms Texas and later-state obligations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19272"/>
            <a:ext cx="5166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34838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+ SUPPORT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34747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support expectations, traveler proof, escalation path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0749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observations are strategic research, not legal advice.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Optimize for contribution-margin CAC — not cheap leads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0835640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75688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profit dollars − variable sales cost − payment cost − service leakage = contribution margin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channel + offer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→ qualified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quality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 → deposit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conversion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416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 / change 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782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leakage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416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782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discipline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4416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4782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compounding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readiness, launch, and learning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01568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5256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Legal/payment readiness • 5–8 offers • USD logic • terms • CRM events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53128" y="1965960"/>
            <a:ext cx="3401568" cy="3154680"/>
          </a:xfrm>
          <a:prstGeom prst="roundRect">
            <a:avLst>
              <a:gd name="adj" fmla="val 3478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2584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launch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• referrals • landing pages • sales scripts • retargeting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0456" y="1965960"/>
            <a:ext cx="3401568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39912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cycle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39912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Offer/channel review • margin cohort • supplier reliability • scale/stop calls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+ OPEN QUESTIONS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unanswered operating questions determine scale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CE6577"/>
          </a:solidFill>
          <a:ln w="12700">
            <a:solidFill>
              <a:srgbClr val="CE65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8562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entity, payments, licensing, insurance responsibilities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CE6577"/>
          </a:solidFill>
          <a:ln w="12700">
            <a:solidFill>
              <a:srgbClr val="CE65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70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5877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package-level gross profit and supplier confirmation reliability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E2A84A"/>
          </a:solidFill>
          <a:ln w="12700">
            <a:solidFill>
              <a:srgbClr val="E2A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31927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demand and volume data are limited and not independently verified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E2A84A"/>
          </a:solidFill>
          <a:ln w="12700">
            <a:solidFill>
              <a:srgbClr val="E2A8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33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40507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staging site and analytics / CRM readiness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E2A84A"/>
          </a:solidFill>
          <a:ln w="12700">
            <a:solidFill>
              <a:srgbClr val="E2A8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64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478231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Houston advantage and accountable sales ownership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548640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E2A84A"/>
          </a:solidFill>
          <a:ln w="12700">
            <a:solidFill>
              <a:srgbClr val="E2A8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961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55138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permission, response SLA, refund and change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FF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18520" y="6419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market. One audience. One measurable engine.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9999FF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30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2121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metro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53128" y="1965960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130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50408" y="2121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Bilingual MENA families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0456" y="1965960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2130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17736" y="2121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5–8 Europe-led packages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264408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29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34198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→ advisor → deposit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53128" y="3264408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3429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50408" y="34198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+ community + referral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0456" y="3264408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3429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17736" y="34198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only on contribution margin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07492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conversion and operating system first. Broaden geography only after proof.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Mundo Tours: North American Customer-Acquisition and Booking Engine</dc:title>
  <dc:subject>Mundo Tours A strategy</dc:subject>
  <dc:creator>SoTech</dc:creator>
  <cp:lastModifiedBy>SoTech</cp:lastModifiedBy>
  <cp:revision>1</cp:revision>
  <dcterms:created xsi:type="dcterms:W3CDTF">2026-08-11T07:32:44Z</dcterms:created>
  <dcterms:modified xsi:type="dcterms:W3CDTF">2026-08-11T07:32:44Z</dcterms:modified>
</cp:coreProperties>
</file>