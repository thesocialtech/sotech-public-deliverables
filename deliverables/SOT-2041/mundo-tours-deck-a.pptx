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Houston is a beachhead hypothesis, not a claim that it is the largest MENA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Target five to eight offers. International air usually remains separate until ticketing and change operations are proven.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Real-time checkout is premature while dates, hotels, private drivers, and supplier-dependent components remain variable.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Fast response and disciplined pipeline ownership matter more than a call center at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Compliance observations are strategic research, not legal advice.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supplied Deck A research. Public URL not included in source export.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999FF"/>
          </a:solidFill>
          <a:ln w="12700">
            <a:solidFill>
              <a:srgbClr val="9999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680960" y="-1280160"/>
            <a:ext cx="5303520" cy="5303520"/>
          </a:xfrm>
          <a:prstGeom prst="ellipse">
            <a:avLst/>
          </a:prstGeom>
          <a:solidFill>
            <a:srgbClr val="A45FE6">
              <a:alpha val="82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0" y="-548640"/>
            <a:ext cx="4572000" cy="4572000"/>
          </a:xfrm>
          <a:prstGeom prst="ellipse">
            <a:avLst/>
          </a:prstGeom>
          <a:solidFill>
            <a:srgbClr val="9999FF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6858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 AMERICAN GROWTH STRATEGY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261872"/>
            <a:ext cx="86868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Mundo Tours: North American Customer-Acquisition and Booking Engine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49808" y="370332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focused U.S. beachhead, assisted-sale journey, and 90-day proof plan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49808" y="5074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by SoTech • Internal strategy material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999FF"/>
          </a:solidFill>
          <a:ln w="12700">
            <a:solidFill>
              <a:srgbClr val="9999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EXECUTIVE RECOMMENDATION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one operating model before widening geography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18745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9999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Houston first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13232" y="2743200"/>
            <a:ext cx="7040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a localized U.S. acquisition system for a narrow audience and five to eight hero offers. Validate acquisition cost, margin, supplier reliability, and sales conversion before expanding.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13232" y="4315968"/>
            <a:ext cx="1920240" cy="438912"/>
          </a:xfrm>
          <a:prstGeom prst="roundRect">
            <a:avLst>
              <a:gd name="adj" fmla="val 25000"/>
            </a:avLst>
          </a:prstGeom>
          <a:solidFill>
            <a:srgbClr val="14143A"/>
          </a:solidFill>
          <a:ln w="12700">
            <a:solidFill>
              <a:srgbClr val="9999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43799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United States first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62072" y="4315968"/>
            <a:ext cx="1920240" cy="438912"/>
          </a:xfrm>
          <a:prstGeom prst="roundRect">
            <a:avLst>
              <a:gd name="adj" fmla="val 25000"/>
            </a:avLst>
          </a:prstGeom>
          <a:solidFill>
            <a:srgbClr val="14143A"/>
          </a:solidFill>
          <a:ln w="12700">
            <a:solidFill>
              <a:srgbClr val="9999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53512" y="43799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Assisted sale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0912" y="4315968"/>
            <a:ext cx="1920240" cy="438912"/>
          </a:xfrm>
          <a:prstGeom prst="roundRect">
            <a:avLst>
              <a:gd name="adj" fmla="val 25000"/>
            </a:avLst>
          </a:prstGeom>
          <a:solidFill>
            <a:srgbClr val="14143A"/>
          </a:solidFill>
          <a:ln w="12700">
            <a:solidFill>
              <a:srgbClr val="9999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02352" y="437997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5–8 hero offers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571500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Houston is a beachhead hypothesis, not a claim that it is the largest MENA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SEQUENCE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Treat North America as a sequence of experiments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58368" y="1993392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2148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Houston / U.S.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6576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one acquisition, sales, and fulfillment playbook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182112" y="31546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511296" y="1993392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7588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75888" y="2788920"/>
            <a:ext cx="2148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DFW + selected metros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75888" y="36576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only after economics and service reliability work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35040" y="31546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364224" y="1993392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28816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528816" y="2788920"/>
            <a:ext cx="2148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Canada / GTA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28816" y="36576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regulatory and transaction model first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87968" y="31546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217152" y="1993392"/>
            <a:ext cx="2514600" cy="324612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81744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381744" y="2788920"/>
            <a:ext cx="2148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Mexico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381744" y="3657600"/>
            <a:ext cx="2148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Defer until Spanish, MXN, and compliance capabilities exist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U.S. FIRST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Demand supports a test — not a guarantee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58368" y="1938528"/>
            <a:ext cx="2505456" cy="1874520"/>
          </a:xfrm>
          <a:prstGeom prst="roundRect">
            <a:avLst>
              <a:gd name="adj" fmla="val 5854"/>
            </a:avLst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2402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107.7M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29077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U.S. outbound travelers in 2024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93008" y="1938528"/>
            <a:ext cx="2505456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22402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53.8M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657600" y="29077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Overseas travelers in 2024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27648" y="1938528"/>
            <a:ext cx="2505456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2402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3.7M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492240" y="29077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Texas overseas travelers in the cited survey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62288" y="1938528"/>
            <a:ext cx="2505456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224028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 days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9326880" y="290779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Average overseas planning horizon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4944" y="4370832"/>
            <a:ext cx="10789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market is large enough to justify a disciplined test. These figures do not prove demand for Mundo specifically.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BUSINESS DIAGNOSIS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Strong product substance; weak North American readiness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58368" y="1920240"/>
            <a:ext cx="5285232" cy="3611880"/>
          </a:xfrm>
          <a:prstGeom prst="roundRect">
            <a:avLst>
              <a:gd name="adj" fmla="val 3038"/>
            </a:avLst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12848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Assets to carry forward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28529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25296" y="274320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 itineraries and inclusions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34015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225296" y="329184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Private-driver and guided Europe capability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9502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25296" y="384048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Middle Eastern license and branch proof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4988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225296" y="438912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Arabic customer-service capability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1920240"/>
            <a:ext cx="5285232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9672" y="2212848"/>
            <a:ext cx="4709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Gaps to resolve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19672" y="285292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830568" y="274320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Arabic-first, SAR-denominated experience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19672" y="340156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30568" y="329184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verified U.S. entity, office, phone, or merchant setup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519672" y="395020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830568" y="384048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Ambiguous inquiry-to-booking journey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449884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30568" y="4389120"/>
            <a:ext cx="4315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Visible data-quality defects and attribution gaps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CUSTOMER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Lead with the problem Mundo is equipped to solve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i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“Houston-area Arabic-speaking or bilingual MENA families and multigenerational households planning complex Europe trips.”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685800" y="3337560"/>
            <a:ext cx="3401568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35844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86968" y="402336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planning complexity without losing flexibility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53128" y="3337560"/>
            <a:ext cx="3401568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35844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54296" y="402336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drivers, family pacing, and Arabic/English human support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0456" y="3337560"/>
            <a:ext cx="3401568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358444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421624" y="4023360"/>
            <a:ext cx="2971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terms, itinerary specificity, and accountable sales ownership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PORTFOLIO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Choose, package, and prove — do not migrate the catalog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58368" y="1938528"/>
            <a:ext cx="3401568" cy="1078992"/>
          </a:xfrm>
          <a:prstGeom prst="roundRect">
            <a:avLst>
              <a:gd name="adj" fmla="val 10169"/>
            </a:avLst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1031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Italy–Switzerland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" y="253288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 journey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5696" y="1938528"/>
            <a:ext cx="3401568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08576" y="21031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Switzerland–Paris–Disney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08576" y="253288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Family-focused route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93024" y="1938528"/>
            <a:ext cx="3401568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75904" y="210312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 Europe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75904" y="253288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Guided highlights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" y="3328416"/>
            <a:ext cx="3401568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34930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Northern Italy + Switzerland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1248" y="39227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or self-drive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425696" y="3328416"/>
            <a:ext cx="3401568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08576" y="34930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Spain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608576" y="39227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Madrid–Barcelona private journey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93024" y="3328416"/>
            <a:ext cx="3401568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75904" y="349300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Balkans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75904" y="392277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Differentiated family route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4944" y="5166360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five to eight offers. International air usually remains separate until ticketing and change operations are proven.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COMPETITIVE POSITION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Compete on coordination, not catalog scale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1005840" y="3794760"/>
            <a:ext cx="9966960" cy="0"/>
          </a:xfrm>
          <a:prstGeom prst="line">
            <a:avLst/>
          </a:prstGeom>
          <a:noFill/>
          <a:ln w="25400">
            <a:solidFill>
              <a:srgbClr val="D9D7E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60120" y="3246120"/>
            <a:ext cx="566928" cy="566928"/>
          </a:xfrm>
          <a:prstGeom prst="ellipse">
            <a:avLst/>
          </a:prstGeom>
          <a:solidFill>
            <a:srgbClr val="B3B3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1945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DIY / OTAs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40690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support • High flexibility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11880" y="3246120"/>
            <a:ext cx="566928" cy="566928"/>
          </a:xfrm>
          <a:prstGeom prst="ellipse">
            <a:avLst/>
          </a:prstGeom>
          <a:solidFill>
            <a:srgbClr val="B3B3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21945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Large tour operators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40690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scale • Low customization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3246120"/>
            <a:ext cx="566928" cy="566928"/>
          </a:xfrm>
          <a:prstGeom prst="ellipse">
            <a:avLst/>
          </a:prstGeom>
          <a:solidFill>
            <a:srgbClr val="B3B3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21945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Specialist community agencies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80760" y="40690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familiarity • Often religious-travel led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15400" y="3246120"/>
            <a:ext cx="566928" cy="566928"/>
          </a:xfrm>
          <a:prstGeom prst="ellipse">
            <a:avLst/>
          </a:prstGeom>
          <a:solidFill>
            <a:srgbClr val="A45FE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32520" y="219456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Mundo opportunity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732520" y="406908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 support • Flexible family Europe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074920"/>
            <a:ext cx="10607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defensible promise is one accountable team coordinating a complex family journey — not “best prices.”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 MODEL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Assisted sale first; transactional booking later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94360" y="2331720"/>
            <a:ext cx="1927860" cy="2011680"/>
          </a:xfrm>
          <a:prstGeom prst="chevron">
            <a:avLst/>
          </a:prstGeom>
          <a:solidFill>
            <a:srgbClr val="14143A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2679192"/>
            <a:ext cx="1562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Landing page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15163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Package-specific intent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23160" y="2331720"/>
            <a:ext cx="1927860" cy="2011680"/>
          </a:xfrm>
          <a:prstGeom prst="chevron">
            <a:avLst/>
          </a:prstGeom>
          <a:solidFill>
            <a:srgbClr val="B3B3FF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7752" y="2679192"/>
            <a:ext cx="1562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06040" y="3246120"/>
            <a:ext cx="15163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trip inputs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51960" y="2331720"/>
            <a:ext cx="1927860" cy="2011680"/>
          </a:xfrm>
          <a:prstGeom prst="chevron">
            <a:avLst/>
          </a:prstGeom>
          <a:solidFill>
            <a:srgbClr val="14143A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16552" y="2679192"/>
            <a:ext cx="1562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3246120"/>
            <a:ext cx="15163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qualification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2331720"/>
            <a:ext cx="1927860" cy="2011680"/>
          </a:xfrm>
          <a:prstGeom prst="chevron">
            <a:avLst/>
          </a:prstGeom>
          <a:solidFill>
            <a:srgbClr val="B3B3FF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45352" y="2679192"/>
            <a:ext cx="1562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Itinerary + quote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63640" y="3246120"/>
            <a:ext cx="15163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Written, supplier-aware offer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09560" y="2331720"/>
            <a:ext cx="1927860" cy="2011680"/>
          </a:xfrm>
          <a:prstGeom prst="chevron">
            <a:avLst/>
          </a:prstGeom>
          <a:solidFill>
            <a:srgbClr val="14143A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74152" y="2679192"/>
            <a:ext cx="1562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Deposit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092440" y="3246120"/>
            <a:ext cx="15163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disclosed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738360" y="2331720"/>
            <a:ext cx="1927860" cy="2011680"/>
          </a:xfrm>
          <a:prstGeom prst="chevron">
            <a:avLst/>
          </a:prstGeom>
          <a:solidFill>
            <a:srgbClr val="B3B3FF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02952" y="2679192"/>
            <a:ext cx="15621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921240" y="3246120"/>
            <a:ext cx="15163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Confirmation through review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5029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Real-time checkout is premature while dates, hotels, private drivers, and supplier-dependent components remain variable.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90 DAYS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first-party learning before scale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85800" y="1920240"/>
            <a:ext cx="10835640" cy="932688"/>
          </a:xfrm>
          <a:prstGeom prst="roundRect">
            <a:avLst>
              <a:gd name="adj" fmla="val 11765"/>
            </a:avLst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579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423160" y="21031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High-intent Google Search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49240" y="2103120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 and referral partnerships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75320" y="210312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Existing-customer referrals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127248"/>
            <a:ext cx="1083564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364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Enable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23160" y="33101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SEO landing pages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49240" y="331012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Retargeting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331012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CRM attribution and fast response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4334256"/>
            <a:ext cx="10835640" cy="932688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5720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Postpone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423160" y="4517136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cold social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349240" y="4517136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Nationwide expansion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75320" y="4517136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 center and real-time booking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SEARCH ENGINE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Organize intent around customer decisions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85800" y="1874520"/>
            <a:ext cx="5166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574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20240" y="203911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Europe tour • Arabic guide • family itinerary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74520"/>
            <a:ext cx="5166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205740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Departure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52360" y="2039112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Europe tours from Houston • private trips from Houston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3319272"/>
            <a:ext cx="5166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35021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920240" y="3483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booking works • cancellation • insurance • visas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319272"/>
            <a:ext cx="5166360" cy="1078992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5021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Destination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52360" y="3483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Italy–Switzerland • Paris–Disney • Central Europe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983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landing pages come first. Informational volume comes after conversion and economics are understood.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CRM + AUTOMATION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Make every handoff measurable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94360" y="2331720"/>
            <a:ext cx="1678577" cy="2011680"/>
          </a:xfrm>
          <a:prstGeom prst="chevron">
            <a:avLst/>
          </a:prstGeom>
          <a:solidFill>
            <a:srgbClr val="14143A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2679192"/>
            <a:ext cx="13128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captured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246120"/>
            <a:ext cx="126709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Source, offer, dates, party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61903" y="2331720"/>
            <a:ext cx="1678577" cy="2011680"/>
          </a:xfrm>
          <a:prstGeom prst="chevron">
            <a:avLst/>
          </a:prstGeom>
          <a:solidFill>
            <a:srgbClr val="B3B3FF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26495" y="2679192"/>
            <a:ext cx="13128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Acknowledged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344783" y="3246120"/>
            <a:ext cx="126709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expectations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29446" y="2331720"/>
            <a:ext cx="1678577" cy="2011680"/>
          </a:xfrm>
          <a:prstGeom prst="chevron">
            <a:avLst/>
          </a:prstGeom>
          <a:solidFill>
            <a:srgbClr val="14143A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94038" y="2679192"/>
            <a:ext cx="13128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Qualified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12326" y="3246120"/>
            <a:ext cx="126709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Fit, budget, timing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96989" y="2331720"/>
            <a:ext cx="1678577" cy="2011680"/>
          </a:xfrm>
          <a:prstGeom prst="chevron">
            <a:avLst/>
          </a:prstGeom>
          <a:solidFill>
            <a:srgbClr val="B3B3FF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61581" y="2679192"/>
            <a:ext cx="13128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79869" y="3246120"/>
            <a:ext cx="126709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Versioned itinerary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64531" y="2331720"/>
            <a:ext cx="1678577" cy="2011680"/>
          </a:xfrm>
          <a:prstGeom prst="chevron">
            <a:avLst/>
          </a:prstGeom>
          <a:solidFill>
            <a:srgbClr val="14143A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29123" y="2679192"/>
            <a:ext cx="13128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Deposit pending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47411" y="3246120"/>
            <a:ext cx="126709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+ expiry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32074" y="2331720"/>
            <a:ext cx="1678577" cy="2011680"/>
          </a:xfrm>
          <a:prstGeom prst="chevron">
            <a:avLst/>
          </a:prstGeom>
          <a:solidFill>
            <a:srgbClr val="B3B3FF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6666" y="2679192"/>
            <a:ext cx="13128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Won / lost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614954" y="3246120"/>
            <a:ext cx="126709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+ reason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999617" y="2331720"/>
            <a:ext cx="1678577" cy="2011680"/>
          </a:xfrm>
          <a:prstGeom prst="chevron">
            <a:avLst/>
          </a:prstGeom>
          <a:solidFill>
            <a:srgbClr val="14143A"/>
          </a:solidFill>
          <a:ln w="25400">
            <a:solidFill>
              <a:srgbClr val="F4F3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164209" y="2679192"/>
            <a:ext cx="131281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Post-trip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182497" y="3246120"/>
            <a:ext cx="126709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+ referral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31520" y="50292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response and disciplined pipeline ownership matter more than a call center at launch.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+ COMPLIANCE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Resolve operating gates before paid acquisition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85800" y="1901952"/>
            <a:ext cx="5166360" cy="1097280"/>
          </a:xfrm>
          <a:prstGeom prst="roundRect">
            <a:avLst>
              <a:gd name="adj" fmla="val 10000"/>
            </a:avLst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06654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+ PAYMENTS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697480" y="205740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U.S. legal entity, banking, merchant, and tax setup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901952"/>
            <a:ext cx="5166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206654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TERMS + DISCLOSURES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229600" y="205740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Cancellation, supplier confirmation, privacy, consent, insurance, visa responsibility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3319272"/>
            <a:ext cx="5166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348386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LICENSING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97480" y="347472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Counsel confirms Texas and later-state obligations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319272"/>
            <a:ext cx="51663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19088" y="3483864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+ SUPPORT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3474720"/>
            <a:ext cx="2880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U.S. support expectations, traveler proof, escalation path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507492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observations are strategic research, not legal advice.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ECONOMICS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Optimize for contribution-margin CAC — not cheap leads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835640" cy="987552"/>
          </a:xfrm>
          <a:prstGeom prst="roundRect">
            <a:avLst>
              <a:gd name="adj" fmla="val 11111"/>
            </a:avLst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075688"/>
            <a:ext cx="10241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Gross profit dollars − variable sales cost − payment cost − service leakage = contribution margin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3703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channel + offer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26280" y="3337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→ qualified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26280" y="3703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quality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3337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Qualified → deposit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75320" y="37033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conversion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441655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Refund / change cost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478231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Operational leakage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26280" y="441655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 time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26280" y="478231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discipline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75320" y="4416552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Referral 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75320" y="478231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compounding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90-DAY ROADMAP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Sequence readiness, launch, and learning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85800" y="1965960"/>
            <a:ext cx="3401568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05256" y="22677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Days 1–30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05256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905256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Legal/payment readiness • 5–8 offers • USD logic • terms • CRM events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453128" y="1965960"/>
            <a:ext cx="3401568" cy="3154680"/>
          </a:xfrm>
          <a:prstGeom prst="roundRect">
            <a:avLst>
              <a:gd name="adj" fmla="val 3478"/>
            </a:avLst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72584" y="22677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Days 31–60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72584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Controlled launch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672584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• referrals • landing pages • sales scripts • retargeting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0456" y="1965960"/>
            <a:ext cx="3401568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7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39912" y="22677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Days 61–90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439912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cycle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39912" y="3520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Offer/channel review • margin cohort • supplier reliability • scale/stop calls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143A"/>
          </a:solidFill>
          <a:ln w="12700">
            <a:solidFill>
              <a:srgbClr val="1414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565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A45F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RISKS + OPEN QUESTIONS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414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unanswered operating questions determine scale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1005840" cy="457200"/>
          </a:xfrm>
          <a:prstGeom prst="roundRect">
            <a:avLst>
              <a:gd name="adj" fmla="val 24000"/>
            </a:avLst>
          </a:prstGeom>
          <a:solidFill>
            <a:srgbClr val="CE6577"/>
          </a:solidFill>
          <a:ln w="12700">
            <a:solidFill>
              <a:srgbClr val="CE65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93852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11680" y="185623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U.S. entity, payments, licensing, insurance responsibilities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1005840" cy="457200"/>
          </a:xfrm>
          <a:prstGeom prst="roundRect">
            <a:avLst>
              <a:gd name="adj" fmla="val 24000"/>
            </a:avLst>
          </a:prstGeom>
          <a:solidFill>
            <a:srgbClr val="CE6577"/>
          </a:solidFill>
          <a:ln w="12700">
            <a:solidFill>
              <a:srgbClr val="CE65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67004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011680" y="258775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package-level gross profit and supplier confirmation reliability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291840"/>
            <a:ext cx="1005840" cy="457200"/>
          </a:xfrm>
          <a:prstGeom prst="roundRect">
            <a:avLst>
              <a:gd name="adj" fmla="val 24000"/>
            </a:avLst>
          </a:prstGeom>
          <a:solidFill>
            <a:srgbClr val="E2A84A"/>
          </a:solidFill>
          <a:ln w="12700">
            <a:solidFill>
              <a:srgbClr val="E2A8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4015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011680" y="331927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staging site and analytics / CRM readiness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1005840" cy="457200"/>
          </a:xfrm>
          <a:prstGeom prst="roundRect">
            <a:avLst>
              <a:gd name="adj" fmla="val 24000"/>
            </a:avLst>
          </a:prstGeom>
          <a:solidFill>
            <a:srgbClr val="E2A84A"/>
          </a:solidFill>
          <a:ln w="12700">
            <a:solidFill>
              <a:srgbClr val="E2A8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13308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11680" y="4050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Houston advantage and accountable sales ownership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754880"/>
            <a:ext cx="1005840" cy="457200"/>
          </a:xfrm>
          <a:prstGeom prst="roundRect">
            <a:avLst>
              <a:gd name="adj" fmla="val 24000"/>
            </a:avLst>
          </a:prstGeom>
          <a:solidFill>
            <a:srgbClr val="E2A84A"/>
          </a:solidFill>
          <a:ln w="12700">
            <a:solidFill>
              <a:srgbClr val="E2A8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86460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Medium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011680" y="478231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permission, response SLA, refund and change operations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9999FF"/>
          </a:solidFill>
          <a:ln w="12700">
            <a:solidFill>
              <a:srgbClr val="9999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492240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SOTECH  /  MUNDO TOURS  /  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1109960" y="6455664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3B3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438912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OPERATING BLUEPRINT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768096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market. One audience. One measurable engine.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685800" y="1965960"/>
            <a:ext cx="3401568" cy="987552"/>
          </a:xfrm>
          <a:prstGeom prst="roundRect">
            <a:avLst>
              <a:gd name="adj" fmla="val 11111"/>
            </a:avLst>
          </a:prstGeom>
          <a:solidFill>
            <a:srgbClr val="9999FF"/>
          </a:solidFill>
          <a:ln w="12700">
            <a:solidFill>
              <a:srgbClr val="9999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30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783080" y="2121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414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Houston metro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53128" y="1965960"/>
            <a:ext cx="3401568" cy="987552"/>
          </a:xfrm>
          <a:prstGeom prst="roundRect">
            <a:avLst>
              <a:gd name="adj" fmla="val 11111"/>
            </a:avLst>
          </a:prstGeom>
          <a:solidFill>
            <a:srgbClr val="14143A"/>
          </a:solidFill>
          <a:ln w="12700">
            <a:solidFill>
              <a:srgbClr val="A45F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2130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AUDIENCE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550408" y="2121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Bilingual MENA families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220456" y="1965960"/>
            <a:ext cx="3401568" cy="987552"/>
          </a:xfrm>
          <a:prstGeom prst="roundRect">
            <a:avLst>
              <a:gd name="adj" fmla="val 11111"/>
            </a:avLst>
          </a:prstGeom>
          <a:solidFill>
            <a:srgbClr val="14143A"/>
          </a:solidFill>
          <a:ln w="12700">
            <a:solidFill>
              <a:srgbClr val="A45F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03336" y="2130552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317736" y="2121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5–8 Europe-led packages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3264408"/>
            <a:ext cx="3401568" cy="987552"/>
          </a:xfrm>
          <a:prstGeom prst="roundRect">
            <a:avLst>
              <a:gd name="adj" fmla="val 11111"/>
            </a:avLst>
          </a:prstGeom>
          <a:solidFill>
            <a:srgbClr val="14143A"/>
          </a:solidFill>
          <a:ln w="12700">
            <a:solidFill>
              <a:srgbClr val="A45F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4290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783080" y="34198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Quote → advisor → deposit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53128" y="3264408"/>
            <a:ext cx="3401568" cy="987552"/>
          </a:xfrm>
          <a:prstGeom prst="roundRect">
            <a:avLst>
              <a:gd name="adj" fmla="val 11111"/>
            </a:avLst>
          </a:prstGeom>
          <a:solidFill>
            <a:srgbClr val="14143A"/>
          </a:solidFill>
          <a:ln w="12700">
            <a:solidFill>
              <a:srgbClr val="A45F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36008" y="34290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ACQUISITION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550408" y="34198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+ community + referral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20456" y="3264408"/>
            <a:ext cx="3401568" cy="987552"/>
          </a:xfrm>
          <a:prstGeom prst="roundRect">
            <a:avLst>
              <a:gd name="adj" fmla="val 11111"/>
            </a:avLst>
          </a:prstGeom>
          <a:solidFill>
            <a:srgbClr val="14143A"/>
          </a:solidFill>
          <a:ln w="12700">
            <a:solidFill>
              <a:srgbClr val="A45F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03336" y="3429000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317736" y="3419856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 only on contribution margin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22960" y="5074920"/>
            <a:ext cx="10515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99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conversion and operating system first. Broaden geography only after proof.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SoTech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Mundo Tours: North American Customer-Acquisition and Booking Engine</dc:title>
  <dc:subject>Mundo Tours A strategy</dc:subject>
  <dc:creator>SoTech</dc:creator>
  <cp:lastModifiedBy>SoTech</cp:lastModifiedBy>
  <cp:revision>1</cp:revision>
  <dcterms:created xsi:type="dcterms:W3CDTF">2026-08-11T07:07:05Z</dcterms:created>
  <dcterms:modified xsi:type="dcterms:W3CDTF">2026-08-11T07:07:05Z</dcterms:modified>
</cp:coreProperties>
</file>